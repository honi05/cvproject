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155448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601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262629"/>
                </a:solidFill>
                <a:latin typeface="Lato"/>
              </a:rPr>
              <a:t>Chess Piece Recognition:</a:t>
            </a:r>
          </a:p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262629"/>
                </a:solidFill>
                <a:latin typeface="Lato"/>
              </a:rPr>
              <a:t>Custom CNN vs YOLO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9595C"/>
                </a:solidFill>
                <a:latin typeface="Lato"/>
              </a:rPr>
              <a:t>Honi Arora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59595C"/>
                </a:solidFill>
                <a:latin typeface="Lato"/>
              </a:rPr>
              <a:t>Computer Vision &amp; Deep Learning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9595C"/>
                </a:solidFill>
                <a:latin typeface="Lato"/>
              </a:rPr>
              <a:t>Sapienza University of Rome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 i="0">
                <a:solidFill>
                  <a:srgbClr val="262629"/>
                </a:solidFill>
                <a:latin typeface="Lato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2395728"/>
            <a:ext cx="32004" cy="71323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28600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C"/>
                </a:solidFill>
                <a:latin typeface="Lato"/>
              </a:rPr>
              <a:t>Problem &amp; experimental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 i="0">
                <a:solidFill>
                  <a:srgbClr val="262629"/>
                </a:solidFill>
                <a:latin typeface="Lato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2395728"/>
            <a:ext cx="32004" cy="71323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228600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C"/>
                </a:solidFill>
                <a:latin typeface="Lato"/>
              </a:rPr>
              <a:t>Data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 i="0">
                <a:solidFill>
                  <a:srgbClr val="262629"/>
                </a:solidFill>
                <a:latin typeface="Lato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3584448"/>
            <a:ext cx="32004" cy="71323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347472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C"/>
                </a:solidFill>
                <a:latin typeface="Lato"/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7472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 i="0">
                <a:solidFill>
                  <a:srgbClr val="262629"/>
                </a:solidFill>
                <a:latin typeface="Lato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3584448"/>
            <a:ext cx="32004" cy="71323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47472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C"/>
                </a:solidFill>
                <a:latin typeface="Lato"/>
              </a:rPr>
              <a:t>Training &amp; hyperparameter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 i="0">
                <a:solidFill>
                  <a:srgbClr val="262629"/>
                </a:solidFill>
                <a:latin typeface="Lato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4773168"/>
            <a:ext cx="32004" cy="713232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66344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C"/>
                </a:solidFill>
                <a:latin typeface="Lato"/>
              </a:rPr>
              <a:t>Results &amp;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6344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0" i="0">
                <a:solidFill>
                  <a:srgbClr val="262629"/>
                </a:solidFill>
                <a:latin typeface="Lato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4773168"/>
            <a:ext cx="32004" cy="713232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663440"/>
            <a:ext cx="42062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9595C"/>
                </a:solidFill>
                <a:latin typeface="Lato"/>
              </a:rPr>
              <a:t>Conclusions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Problem &amp; experimental design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Goal: recognize chess pieces from a board image; compare a small custom CNN classifier against YOLO detectors on accuracy, latency and compute.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One shared synthetic dataset, processed into two views so both families see identical data: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3108960"/>
          <a:ext cx="1033272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743200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View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Consumer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Labels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9"/>
                          </a:solidFill>
                          <a:latin typeface="Lato"/>
                        </a:rPr>
                        <a:t>50×50 cell crops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Custom CNN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one board cell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13 (empty + 12 pieces)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9"/>
                          </a:solidFill>
                          <a:latin typeface="Lato"/>
                        </a:rPr>
                        <a:t>cell bounding boxes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YOLO (pico/n/s)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full board image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12 piece classes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62629"/>
                </a:solidFill>
                <a:latin typeface="Lato"/>
              </a:rPr>
              <a:t>•  Fair metric — “occupied-cell accuracy”: each YOLO detection is mapped to its grid cell; the top-confidence class per occupied cell is scored, putting detection on the CNN’s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Data pipeline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4</a:t>
            </a:r>
          </a:p>
        </p:txBody>
      </p:sp>
      <p:pic>
        <p:nvPicPr>
          <p:cNvPr id="10" name="Picture 9" descr="boar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920239"/>
            <a:ext cx="3749039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874519"/>
            <a:ext cx="66751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Source: koryakinp/chess-positions (Kaggle, CC0) — 100k rendered 400×400 boards; label = FEN in the filename; board fills the frame as a clean 8×8 grid (50×50 cells).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FEN → 8×8 grid → 13-class index per cell (empty=0, white 1-6, black 7-12); occupied cells → YOLO cell-boxes (12-class).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Working set: 20k train / 4k test boards.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Class skew: 83% empty, kings 1/board, queens ~0.8%; balanced to ~429k crops (max_empty_ratio).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Memmap crop cache: precompute (N,64,50,50,3) uint8 → training reads crops with zero JPEG re-decode.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Kornia differentiable, GPU-batched augmentation (affine/jitter/noise/blur), strength is a tuned hyperparameter.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Models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5</a:t>
            </a:r>
          </a:p>
        </p:txBody>
      </p:sp>
      <p:pic>
        <p:nvPicPr>
          <p:cNvPr id="10" name="Picture 9" descr="cn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810512"/>
            <a:ext cx="9326880" cy="2099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959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62629"/>
                </a:solidFill>
                <a:latin typeface="Lato"/>
              </a:rPr>
              <a:t>YOLOv8 variants (trained on the same derived boxes):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14400" y="4251960"/>
          <a:ext cx="1033272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210312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Variant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Origin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Params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ato"/>
                        </a:rPr>
                        <a:t>Note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9"/>
                          </a:solidFill>
                          <a:latin typeface="Lato"/>
                        </a:rPr>
                        <a:t>yolo_pico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scaled YAML, from scratch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184,300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sub-nano stress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9"/>
                          </a:solidFill>
                          <a:latin typeface="Lato"/>
                        </a:rPr>
                        <a:t>yolov8n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pretrained (COCO)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2,692,548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standard nano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9"/>
                          </a:solidFill>
                          <a:latin typeface="Lato"/>
                        </a:rPr>
                        <a:t>yolov8s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pretrained (COCO)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9,843,604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9"/>
                          </a:solidFill>
                          <a:latin typeface="Lato"/>
                        </a:rPr>
                        <a:t>“big” model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Hyperparameter tuning (CNN)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6</a:t>
            </a:r>
          </a:p>
        </p:txBody>
      </p:sp>
      <p:pic>
        <p:nvPicPr>
          <p:cNvPr id="10" name="Picture 9" descr="h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65960"/>
            <a:ext cx="5486400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874519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Optuna study, SQLite storage (resumable), MedianPruner; each trial → a wandb run.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62629"/>
                </a:solidFill>
                <a:latin typeface="Lato"/>
              </a:rPr>
              <a:t>•  Search space: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9595C"/>
                </a:solidFill>
                <a:latin typeface="Lato"/>
              </a:rPr>
              <a:t>–  lr, weight_decay (log); optimizer {adam/adamw/sgd}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9595C"/>
                </a:solidFill>
                <a:latin typeface="Lato"/>
              </a:rPr>
              <a:t>–  aug_strength 0–0.8; n_blocks 2–4; base_ch {16/32/64}</a:t>
            </a:r>
          </a:p>
          <a:p>
            <a:pPr algn="l" lvl="1">
              <a:spcAft>
                <a:spcPts val="600"/>
              </a:spcAft>
            </a:pPr>
            <a:r>
              <a:rPr sz="1150" b="0" i="0">
                <a:solidFill>
                  <a:srgbClr val="59595C"/>
                </a:solidFill>
                <a:latin typeface="Lato"/>
              </a:rPr>
              <a:t>–  fc_dim {64/128/256}; dropout 0–0.5; batch {128/256/512}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•  Dual stop: target accuracy OR time budget; ETA predicted from a calibration mini-run.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22433"/>
                </a:solidFill>
                <a:latin typeface="Lato"/>
              </a:rPr>
              <a:t>•  Insights: AdamW ≫ SGD; heavy augmentation hurts clean renders; the smallest net (28.8k params) won.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Training methodology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59595C"/>
                </a:solidFill>
                <a:latin typeface="Lato"/>
              </a:rPr>
              <a:t>•  Engineering: spec → plan → 19-task TDD build; per-task spec + code-quality review; 38 unit/smoke tests.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59595C"/>
                </a:solidFill>
                <a:latin typeface="Lato"/>
              </a:rPr>
              <a:t>•  Hardware-aware: RTX A4000 16 GB; 90% GPU-memory cap; monitored soft RAM guard (RLIMIT_AS breaks CUDA).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59595C"/>
                </a:solidFill>
                <a:latin typeface="Lato"/>
              </a:rPr>
              <a:t>•  CNN speed (measured): 0.0283 s/step → ~38 s/epoch → ~142 s per 6-epoch trial; target hit in 1 epoch.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59595C"/>
                </a:solidFill>
                <a:latin typeface="Lato"/>
              </a:rPr>
              <a:t>•  Two-phase tuning: target 0.995 was met instantly (trial 0) → raised to 0.999 to force real exploration.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59595C"/>
                </a:solidFill>
                <a:latin typeface="Lato"/>
              </a:rPr>
              <a:t>•  YOLO: imgsz 416, 12 epochs, 25% data fraction; n/s from COCO weights, pico from scratch; optimizer=auto (AdamW).</a:t>
            </a:r>
          </a:p>
          <a:p>
            <a:pPr algn="l">
              <a:spcAft>
                <a:spcPts val="900"/>
              </a:spcAft>
            </a:pPr>
            <a:r>
              <a:rPr sz="1350" b="0" i="0">
                <a:solidFill>
                  <a:srgbClr val="59595C"/>
                </a:solidFill>
                <a:latin typeface="Lato"/>
              </a:rPr>
              <a:t>•  Final CNN rebuilt from the best Optuna trial (FixedTrial), retrained, saved, pushed to Hugging 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Results — head-to-head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96596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280160"/>
                <a:gridCol w="1645920"/>
                <a:gridCol w="1280160"/>
                <a:gridCol w="1188720"/>
                <a:gridCol w="109728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Occ-acc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mAP@50-95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Params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GFLOPs/bd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Lat ms/bd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Disk MB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Lato"/>
                        </a:rPr>
                        <a:t>Train s</a:t>
                      </a:r>
                    </a:p>
                  </a:txBody>
                  <a:tcPr marL="54864" marR="54864" marT="18288" marB="18288" anchor="ctr">
                    <a:solidFill>
                      <a:srgbClr val="8224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9"/>
                          </a:solidFill>
                          <a:latin typeface="Lato"/>
                        </a:rPr>
                        <a:t>custom_cnn 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0.9996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28,813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0.442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0.514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0.125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~38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9"/>
                          </a:solidFill>
                          <a:latin typeface="Lato"/>
                        </a:rPr>
                        <a:t>yolo_pico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0.2073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0.255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184,300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0.236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5.491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0.567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260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9"/>
                          </a:solidFill>
                          <a:latin typeface="Lato"/>
                        </a:rPr>
                        <a:t>yolov8n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1.0000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0.995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2,692,548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1.469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4.346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5.594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537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9"/>
                          </a:solidFill>
                          <a:latin typeface="Lato"/>
                        </a:rPr>
                        <a:t>yolov8s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1.0000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0.995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9,843,604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4.985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6.067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19.918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9"/>
                          </a:solidFill>
                          <a:latin typeface="Lato"/>
                        </a:rPr>
                        <a:t>734</a:t>
                      </a:r>
                    </a:p>
                  </a:txBody>
                  <a:tcPr marL="54864" marR="54864" marT="18288" marB="18288" anchor="ctr">
                    <a:solidFill>
                      <a:srgbClr val="EAEEE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466344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C"/>
                </a:solidFill>
                <a:latin typeface="Lato"/>
              </a:rPr>
              <a:t>•  Pretrained YOLOs are perfect (grid-aligned boxes are trivial to localize); CNN trails by only 0.04 pp.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822433"/>
                </a:solidFill>
                <a:latin typeface="Lato"/>
              </a:rPr>
              <a:t>•  CNN vs yolov8n: ~93× fewer params, ~8.5× lower latency, ~45× smaller — at ~equal accuracy.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C"/>
                </a:solidFill>
                <a:latin typeface="Lato"/>
              </a:rPr>
              <a:t>•  Pico (sub-nano, from scratch) collapses to 20.7% and is even slower than nano.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Results — accuracy vs cost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9</a:t>
            </a:r>
          </a:p>
        </p:txBody>
      </p:sp>
      <p:pic>
        <p:nvPicPr>
          <p:cNvPr id="10" name="Picture 9" descr="acc_vs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39"/>
            <a:ext cx="5669280" cy="3118104"/>
          </a:xfrm>
          <a:prstGeom prst="rect">
            <a:avLst/>
          </a:prstGeom>
        </p:spPr>
      </p:pic>
      <p:pic>
        <p:nvPicPr>
          <p:cNvPr id="11" name="Picture 10" descr="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5577840" cy="2602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13892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262629"/>
                </a:solidFill>
                <a:latin typeface="Lato"/>
              </a:rPr>
              <a:t>•  Shrink the paradigm, not just the width: a tiny CNN classifier learns in 1 epoch; a tiny detector cannot.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Conclusions &amp; recommendations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62629"/>
                </a:solidFill>
                <a:latin typeface="Lato"/>
              </a:rPr>
              <a:t>•  On grid-croppable / embedded targets: ship the custom CNN — 99.96% at 125 KB and 0.5 ms/board.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For robust real-photo recognition: yolov8n pretrained — perfect here, no board-cropping step, best generalization; yolov8s adds cost without accuracy.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Do not train a sub-nano YOLO from scratch on small data.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Trade-off: the CNN’s efficiency assumes an 8×8 grid (free from synthetic geometry); real boards need detection/perspective first — YOLO’s strength.</a:t>
            </a:r>
          </a:p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Future work: real-photo test set (ChessReD2K), full-data YOLO + HPO sweep, board→FEN reconstruction.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Artifacts &amp; reproducibility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Code: github.com/Honi05/cvproject (TDD, 38 tests, PR #1).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CNN model: huggingface.co/honi05/chess-piece-cnn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YOLO models (pico/n/s): huggingface.co/honi05/chess-piece-yolo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Derived dataset: huggingface.co/datasets/honi05/chess-positions-cv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Experiment tracking: Weights &amp; Biases — project chess-cnn-vs-yolo (Optuna trials + comparison).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595C"/>
                </a:solidFill>
                <a:latin typeface="Lato"/>
              </a:rPr>
              <a:t>•  One command per stage: 01_build_data → 02_train_cnn → train_all_yolo → full_compare → push_artifacts.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82296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91440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62629"/>
                </a:solidFill>
                <a:latin typeface="Lato"/>
              </a:rPr>
              <a:t>References</a:t>
            </a:r>
          </a:p>
        </p:txBody>
      </p:sp>
      <p:sp>
        <p:nvSpPr>
          <p:cNvPr id="7" name="Right Triangle 6"/>
          <p:cNvSpPr/>
          <p:nvPr/>
        </p:nvSpPr>
        <p:spPr>
          <a:xfrm flipH="1">
            <a:off x="0" y="5989320"/>
            <a:ext cx="960120" cy="868680"/>
          </a:xfrm>
          <a:prstGeom prst="rtTriangle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6455664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Chess: Custom CNN vs YOLO — Honi Arora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8A8A8C"/>
                </a:solidFill>
                <a:latin typeface="Lato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332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1" i="0">
                <a:solidFill>
                  <a:srgbClr val="262629"/>
                </a:solidFill>
                <a:latin typeface="Lato"/>
              </a:rPr>
              <a:t>•  Dataset: P. Koryakin, “Chess Positions”, Kaggle (CC0).</a:t>
            </a:r>
          </a:p>
          <a:p>
            <a:pPr algn="l" lvl="1">
              <a:spcAft>
                <a:spcPts val="9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–  Jocher et al., Ultralytics YOLOv8.</a:t>
            </a:r>
          </a:p>
          <a:p>
            <a:pPr algn="l" lvl="1">
              <a:spcAft>
                <a:spcPts val="9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–  Akiba et al., “Optuna: A Next-generation Hyperparameter Optimization Framework”, KDD 2019.</a:t>
            </a:r>
          </a:p>
          <a:p>
            <a:pPr algn="l" lvl="1">
              <a:spcAft>
                <a:spcPts val="9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–  Riba et al., “Kornia: an Open Source Differentiable CV Library for PyTorch”, WACV 2020.</a:t>
            </a:r>
          </a:p>
          <a:p>
            <a:pPr algn="l" lvl="1">
              <a:spcAft>
                <a:spcPts val="900"/>
              </a:spcAft>
            </a:pPr>
            <a:r>
              <a:rPr sz="1250" b="0" i="0">
                <a:solidFill>
                  <a:srgbClr val="59595C"/>
                </a:solidFill>
                <a:latin typeface="Lato"/>
              </a:rPr>
              <a:t>–  Slides template: github.com/pietro-nardelli/sapienza-ppt-template (CC BY-NC-SA 4.0).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EA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411480" cy="64008"/>
          </a:xfrm>
          <a:prstGeom prst="rect">
            <a:avLst/>
          </a:prstGeom>
          <a:solidFill>
            <a:srgbClr val="15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5880" y="2377440"/>
            <a:ext cx="411480" cy="64008"/>
          </a:xfrm>
          <a:prstGeom prst="rect">
            <a:avLst/>
          </a:prstGeom>
          <a:solidFill>
            <a:srgbClr val="82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262629"/>
                </a:solidFill>
                <a:latin typeface="Lato"/>
              </a:rPr>
              <a:t>Thank you for the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